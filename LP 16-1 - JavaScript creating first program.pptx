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ry MacLysagh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2"/>
          <p:cNvSpPr>
            <a:spLocks noGrp="1"/>
          </p:cNvSpPr>
          <p:nvPr>
            <p:ph type="title"/>
          </p:nvPr>
        </p:nvSpPr>
        <p:spPr>
          <a:xfrm>
            <a:off x="1406398" y="220139"/>
            <a:ext cx="93792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500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10BDA-AD57-4369-8599-462542FB8D91}" type="datetimeFigureOut">
              <a:rPr lang="en-US" smtClean="0"/>
              <a:t>10/30/2017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018AB-678C-49C9-AB53-7573064563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372633" y="6356350"/>
            <a:ext cx="4485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DC57B4-20C3-4B00-AB73-AE460EBE4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415796" cy="7391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21701" y="6342005"/>
            <a:ext cx="3467100" cy="519170"/>
          </a:xfrm>
          <a:prstGeom prst="rect">
            <a:avLst/>
          </a:prstGeom>
        </p:spPr>
      </p:pic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1406398" y="220139"/>
            <a:ext cx="93792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844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ctr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Concepts – Functions, Variables,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094" y="1173195"/>
            <a:ext cx="4044697" cy="4093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Concepts of all program code: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function ()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variable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for loop / while loop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if / then / else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Specific to JavaScript: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Changing page content with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CSS &amp; DOM (Document Object Model)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Data Input Validation / Sanitization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99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Learn and use best-practices coding standards and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925" y="1018170"/>
            <a:ext cx="9071714" cy="5470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Close all other windows – keep your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focus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/>
              <a:t>on coding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a code-aware text editor – such as Notepad++, Sublime, Brackets,</a:t>
            </a:r>
            <a:br>
              <a:rPr lang="en-US" dirty="0"/>
            </a:br>
            <a:r>
              <a:rPr lang="en-US" dirty="0"/>
              <a:t>and get to know its error </a:t>
            </a:r>
            <a:r>
              <a:rPr lang="en-US" dirty="0">
                <a:solidFill>
                  <a:srgbClr val="FF0000"/>
                </a:solidFill>
              </a:rPr>
              <a:t>color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coding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system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Save files in your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/web/ </a:t>
            </a:r>
            <a:r>
              <a:rPr lang="en-US" dirty="0"/>
              <a:t>folder – not scattered on desktop – be aware of file paths/locations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Indent for readability  (computers don’t care </a:t>
            </a:r>
            <a:r>
              <a:rPr lang="mr-IN" dirty="0"/>
              <a:t>–</a:t>
            </a:r>
            <a:r>
              <a:rPr lang="en-US" dirty="0"/>
              <a:t> this is purely for humans, but very important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Line breaks for readability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Comment your code where appropriate – be nice to your testers!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All code is in lowercase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All file names lowercase, use underscore for spacing – </a:t>
            </a:r>
            <a:r>
              <a:rPr lang="en-US" dirty="0" err="1"/>
              <a:t>CaSE</a:t>
            </a:r>
            <a:r>
              <a:rPr lang="en-US" dirty="0"/>
              <a:t> </a:t>
            </a:r>
            <a:r>
              <a:rPr lang="en-US" dirty="0" err="1"/>
              <a:t>mATteRs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Variable names, DIVs &amp; attributes can be </a:t>
            </a:r>
            <a:r>
              <a:rPr lang="en-US" dirty="0" err="1"/>
              <a:t>camelCase</a:t>
            </a:r>
            <a:r>
              <a:rPr lang="en-US" dirty="0"/>
              <a:t> (optional)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Variable and div names should be meaningful and avoid reserved/ambiguous words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Close all tags!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Pay attention to spelling and punctuation</a:t>
            </a:r>
          </a:p>
        </p:txBody>
      </p:sp>
    </p:spTree>
    <p:extLst>
      <p:ext uri="{BB962C8B-B14F-4D97-AF65-F5344CB8AC3E}">
        <p14:creationId xmlns:p14="http://schemas.microsoft.com/office/powerpoint/2010/main" val="216975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Description – Functional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7071" y="858157"/>
            <a:ext cx="8475654" cy="480131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/>
              <a:t>Write a program to: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Ask for the user’s Name (and display/confirm it back)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Ask a user for a number input </a:t>
            </a:r>
            <a:r>
              <a:rPr lang="en-US" b="1" i="1" dirty="0">
                <a:solidFill>
                  <a:srgbClr val="FF0000"/>
                </a:solidFill>
              </a:rPr>
              <a:t>n </a:t>
            </a:r>
            <a:r>
              <a:rPr lang="en-US" dirty="0"/>
              <a:t>(and display/confirm it back)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a pop-up alert() or DOM (preferred) to confirm the name &amp; number entered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Then count from 0 to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dirty="0"/>
              <a:t> on the screen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Output should display right on the HTML page (inline – modifying the DOM)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basic CSS to style the output area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Learn and use best-practice coding standards and conventions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Modify the program to count by 2s (or some other increment)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MOST IMPORTANTLY: add error-checking – input validation / sanitization</a:t>
            </a:r>
            <a:br>
              <a:rPr lang="en-US" b="1" dirty="0"/>
            </a:br>
            <a:r>
              <a:rPr lang="en-US" b="1" dirty="0"/>
              <a:t>(more specs to come later)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6180" y="6341221"/>
            <a:ext cx="7498267" cy="369332"/>
          </a:xfrm>
          <a:prstGeom prst="rect">
            <a:avLst/>
          </a:prstGeom>
          <a:solidFill>
            <a:srgbClr val="3366F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will be writing this same program using </a:t>
            </a:r>
            <a:r>
              <a:rPr lang="en-US" b="1" dirty="0"/>
              <a:t>BASH</a:t>
            </a:r>
            <a:r>
              <a:rPr lang="en-US" dirty="0"/>
              <a:t> and </a:t>
            </a:r>
            <a:r>
              <a:rPr lang="en-US" b="1" dirty="0"/>
              <a:t>Python</a:t>
            </a:r>
            <a:r>
              <a:rPr lang="en-US" dirty="0"/>
              <a:t> in a later session</a:t>
            </a:r>
          </a:p>
        </p:txBody>
      </p:sp>
    </p:spTree>
    <p:extLst>
      <p:ext uri="{BB962C8B-B14F-4D97-AF65-F5344CB8AC3E}">
        <p14:creationId xmlns:p14="http://schemas.microsoft.com/office/powerpoint/2010/main" val="133423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55371" y="4581330"/>
            <a:ext cx="7959013" cy="2705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28800" y="2341985"/>
            <a:ext cx="3872204" cy="29857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count.html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34413" y="834832"/>
            <a:ext cx="8565501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&lt;!DOCTYPE html&gt;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&lt;html&gt;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&lt;head&gt;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   &lt;meta </a:t>
            </a:r>
            <a:r>
              <a:rPr lang="en-US" sz="1600" dirty="0">
                <a:solidFill>
                  <a:srgbClr val="548235"/>
                </a:solidFill>
              </a:rPr>
              <a:t>charset=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"utf-8"</a:t>
            </a:r>
            <a:r>
              <a:rPr lang="en-US" sz="1600" dirty="0">
                <a:solidFill>
                  <a:schemeClr val="accent1"/>
                </a:solidFill>
              </a:rPr>
              <a:t>&gt;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3366FF"/>
                </a:solidFill>
              </a:rPr>
              <a:t>&lt;title&gt;</a:t>
            </a:r>
            <a:r>
              <a:rPr lang="en-US" sz="1600" dirty="0"/>
              <a:t>Counting Application</a:t>
            </a:r>
            <a:r>
              <a:rPr lang="en-US" sz="1600" dirty="0">
                <a:solidFill>
                  <a:srgbClr val="3366FF"/>
                </a:solidFill>
              </a:rPr>
              <a:t>&lt;/title&gt;</a:t>
            </a:r>
          </a:p>
          <a:p>
            <a:r>
              <a:rPr lang="en-US" sz="1600" dirty="0"/>
              <a:t>   </a:t>
            </a:r>
            <a:r>
              <a:rPr lang="en-US" sz="1600" dirty="0">
                <a:solidFill>
                  <a:srgbClr val="3366FF"/>
                </a:solidFill>
              </a:rPr>
              <a:t> &lt;link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rel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sz="1600" dirty="0">
                <a:solidFill>
                  <a:srgbClr val="FF6600"/>
                </a:solidFill>
              </a:rPr>
              <a:t>"</a:t>
            </a:r>
            <a:r>
              <a:rPr lang="en-US" sz="1600" dirty="0" err="1">
                <a:solidFill>
                  <a:srgbClr val="FF6600"/>
                </a:solidFill>
              </a:rPr>
              <a:t>stylesheet</a:t>
            </a:r>
            <a:r>
              <a:rPr lang="en-US" sz="1600" dirty="0">
                <a:solidFill>
                  <a:srgbClr val="FF6600"/>
                </a:solidFill>
              </a:rPr>
              <a:t>" </a:t>
            </a:r>
            <a:r>
              <a:rPr lang="en-US" sz="1600" dirty="0" err="1">
                <a:solidFill>
                  <a:srgbClr val="FF6600"/>
                </a:solidFill>
              </a:rPr>
              <a:t>href</a:t>
            </a:r>
            <a:r>
              <a:rPr lang="en-US" sz="1600" dirty="0">
                <a:solidFill>
                  <a:srgbClr val="FF6600"/>
                </a:solidFill>
              </a:rPr>
              <a:t>="</a:t>
            </a:r>
            <a:r>
              <a:rPr lang="en-US" sz="1600" dirty="0" err="1">
                <a:solidFill>
                  <a:srgbClr val="FF6600"/>
                </a:solidFill>
              </a:rPr>
              <a:t>main.css</a:t>
            </a:r>
            <a:r>
              <a:rPr lang="en-US" sz="1600" dirty="0">
                <a:solidFill>
                  <a:srgbClr val="FF6600"/>
                </a:solidFill>
              </a:rPr>
              <a:t>"</a:t>
            </a:r>
            <a:r>
              <a:rPr lang="en-US" sz="1600" dirty="0">
                <a:solidFill>
                  <a:srgbClr val="3366FF"/>
                </a:solidFill>
              </a:rPr>
              <a:t>&gt;</a:t>
            </a:r>
          </a:p>
          <a:p>
            <a:r>
              <a:rPr lang="en-US" sz="2000" b="1" dirty="0">
                <a:solidFill>
                  <a:srgbClr val="3366FF"/>
                </a:solidFill>
              </a:rPr>
              <a:t>    &lt;script </a:t>
            </a:r>
            <a:r>
              <a:rPr lang="en-US" sz="2000" b="1" dirty="0" err="1">
                <a:solidFill>
                  <a:srgbClr val="548235"/>
                </a:solidFill>
              </a:rPr>
              <a:t>src</a:t>
            </a:r>
            <a:r>
              <a:rPr lang="en-US" sz="2000" b="1" dirty="0">
                <a:solidFill>
                  <a:srgbClr val="548235"/>
                </a:solidFill>
              </a:rPr>
              <a:t>=</a:t>
            </a:r>
            <a:r>
              <a:rPr lang="en-US" sz="2000" b="1" dirty="0">
                <a:solidFill>
                  <a:srgbClr val="FF6600"/>
                </a:solidFill>
              </a:rPr>
              <a:t>"</a:t>
            </a:r>
            <a:r>
              <a:rPr lang="en-US" sz="2000" b="1" dirty="0" err="1">
                <a:solidFill>
                  <a:srgbClr val="FF6600"/>
                </a:solidFill>
              </a:rPr>
              <a:t>counting.js</a:t>
            </a:r>
            <a:r>
              <a:rPr lang="en-US" sz="2000" b="1" dirty="0">
                <a:solidFill>
                  <a:srgbClr val="FF6600"/>
                </a:solidFill>
              </a:rPr>
              <a:t>"</a:t>
            </a:r>
            <a:r>
              <a:rPr lang="en-US" sz="2000" b="1" dirty="0">
                <a:solidFill>
                  <a:srgbClr val="3366FF"/>
                </a:solidFill>
              </a:rPr>
              <a:t>&gt;&lt;/script&gt;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&lt;/head&gt;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&lt;body&gt;</a:t>
            </a:r>
          </a:p>
          <a:p>
            <a:pPr lvl="1"/>
            <a:r>
              <a:rPr lang="en-US" sz="1600" dirty="0">
                <a:solidFill>
                  <a:srgbClr val="C55A11"/>
                </a:solidFill>
              </a:rPr>
              <a:t>&lt;!--</a:t>
            </a:r>
            <a:r>
              <a:rPr lang="en-US" sz="1600" dirty="0">
                <a:solidFill>
                  <a:srgbClr val="3366FF"/>
                </a:solidFill>
              </a:rPr>
              <a:t> program to count from 0 to arbitrary input number </a:t>
            </a:r>
            <a:r>
              <a:rPr lang="en-US" sz="1600" dirty="0">
                <a:solidFill>
                  <a:srgbClr val="C55A11"/>
                </a:solidFill>
              </a:rPr>
              <a:t>--&gt;</a:t>
            </a: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&lt;h1&gt;</a:t>
            </a:r>
            <a:r>
              <a:rPr lang="en-US" sz="1600" dirty="0"/>
              <a:t>Counting</a:t>
            </a:r>
            <a:r>
              <a:rPr lang="en-US" sz="1600" dirty="0">
                <a:solidFill>
                  <a:srgbClr val="3366FF"/>
                </a:solidFill>
              </a:rPr>
              <a:t>&lt;/h1&gt;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&lt;form </a:t>
            </a:r>
            <a:r>
              <a:rPr lang="en-US" sz="1600" dirty="0">
                <a:solidFill>
                  <a:srgbClr val="548235"/>
                </a:solidFill>
              </a:rPr>
              <a:t>name=</a:t>
            </a:r>
            <a:r>
              <a:rPr lang="en-US" sz="1600" dirty="0">
                <a:solidFill>
                  <a:srgbClr val="FF6600"/>
                </a:solidFill>
              </a:rPr>
              <a:t>"frm1"</a:t>
            </a:r>
            <a:r>
              <a:rPr lang="en-US" sz="1600" dirty="0">
                <a:solidFill>
                  <a:srgbClr val="3366FF"/>
                </a:solidFill>
              </a:rPr>
              <a:t>&gt;</a:t>
            </a: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	&lt;p&gt;</a:t>
            </a:r>
            <a:r>
              <a:rPr lang="en-US" sz="1600" dirty="0"/>
              <a:t>Please enter your name: &lt;input </a:t>
            </a:r>
            <a:r>
              <a:rPr lang="en-US" sz="1600" dirty="0">
                <a:solidFill>
                  <a:srgbClr val="008000"/>
                </a:solidFill>
              </a:rPr>
              <a:t>type=</a:t>
            </a:r>
            <a:r>
              <a:rPr lang="en-US" sz="1600" dirty="0">
                <a:solidFill>
                  <a:srgbClr val="FF6600"/>
                </a:solidFill>
              </a:rPr>
              <a:t>"text" </a:t>
            </a:r>
            <a:r>
              <a:rPr lang="en-US" sz="1600" dirty="0">
                <a:solidFill>
                  <a:srgbClr val="008000"/>
                </a:solidFill>
              </a:rPr>
              <a:t>name=</a:t>
            </a:r>
            <a:r>
              <a:rPr lang="en-US" sz="1600" dirty="0">
                <a:solidFill>
                  <a:srgbClr val="FF6600"/>
                </a:solidFill>
              </a:rPr>
              <a:t>"box1" </a:t>
            </a:r>
            <a:r>
              <a:rPr lang="en-US" sz="1600" dirty="0"/>
              <a:t>/&gt;</a:t>
            </a:r>
            <a:r>
              <a:rPr lang="en-US" sz="1600" dirty="0">
                <a:solidFill>
                  <a:srgbClr val="3366FF"/>
                </a:solidFill>
              </a:rPr>
              <a:t>&lt;/p&gt;</a:t>
            </a:r>
          </a:p>
          <a:p>
            <a:pPr lvl="1"/>
            <a:r>
              <a:rPr lang="en-US" sz="1600" dirty="0"/>
              <a:t>  	</a:t>
            </a:r>
            <a:r>
              <a:rPr lang="en-US" sz="1600" dirty="0">
                <a:solidFill>
                  <a:srgbClr val="3366FF"/>
                </a:solidFill>
              </a:rPr>
              <a:t>&lt;p&gt;</a:t>
            </a:r>
            <a:r>
              <a:rPr lang="en-US" sz="1600" dirty="0"/>
              <a:t>Please enter a number: &lt;input </a:t>
            </a:r>
            <a:r>
              <a:rPr lang="en-US" sz="1600" dirty="0">
                <a:solidFill>
                  <a:srgbClr val="008000"/>
                </a:solidFill>
              </a:rPr>
              <a:t>type=</a:t>
            </a:r>
            <a:r>
              <a:rPr lang="en-US" sz="1600" dirty="0">
                <a:solidFill>
                  <a:srgbClr val="FF6600"/>
                </a:solidFill>
              </a:rPr>
              <a:t>"text" </a:t>
            </a:r>
            <a:r>
              <a:rPr lang="en-US" sz="1600" dirty="0">
                <a:solidFill>
                  <a:srgbClr val="008000"/>
                </a:solidFill>
              </a:rPr>
              <a:t>name=</a:t>
            </a:r>
            <a:r>
              <a:rPr lang="en-US" sz="1600" dirty="0">
                <a:solidFill>
                  <a:srgbClr val="FF6600"/>
                </a:solidFill>
              </a:rPr>
              <a:t>"box2" </a:t>
            </a:r>
            <a:r>
              <a:rPr lang="en-US" sz="1600" dirty="0"/>
              <a:t>/&gt;</a:t>
            </a:r>
            <a:r>
              <a:rPr lang="en-US" sz="1600" dirty="0">
                <a:solidFill>
                  <a:srgbClr val="3366FF"/>
                </a:solidFill>
              </a:rPr>
              <a:t>&lt;/p&gt;</a:t>
            </a: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  &lt;input </a:t>
            </a:r>
            <a:r>
              <a:rPr lang="en-US" sz="1600" dirty="0">
                <a:solidFill>
                  <a:srgbClr val="548235"/>
                </a:solidFill>
              </a:rPr>
              <a:t>type=</a:t>
            </a:r>
            <a:r>
              <a:rPr lang="en-US" sz="1600" dirty="0">
                <a:solidFill>
                  <a:srgbClr val="FF6600"/>
                </a:solidFill>
              </a:rPr>
              <a:t>"button" </a:t>
            </a:r>
            <a:r>
              <a:rPr lang="en-US" sz="1600" dirty="0">
                <a:solidFill>
                  <a:srgbClr val="548235"/>
                </a:solidFill>
              </a:rPr>
              <a:t>value=</a:t>
            </a:r>
            <a:r>
              <a:rPr lang="en-US" sz="1600" dirty="0">
                <a:solidFill>
                  <a:srgbClr val="FF6600"/>
                </a:solidFill>
              </a:rPr>
              <a:t>"Do It!" </a:t>
            </a:r>
            <a:r>
              <a:rPr lang="en-US" sz="1600" dirty="0" err="1">
                <a:solidFill>
                  <a:srgbClr val="548235"/>
                </a:solidFill>
              </a:rPr>
              <a:t>onClick</a:t>
            </a:r>
            <a:r>
              <a:rPr lang="en-US" sz="1600" dirty="0">
                <a:solidFill>
                  <a:srgbClr val="548235"/>
                </a:solidFill>
              </a:rPr>
              <a:t>=</a:t>
            </a:r>
            <a:r>
              <a:rPr lang="en-US" sz="1600" dirty="0">
                <a:solidFill>
                  <a:srgbClr val="FF6600"/>
                </a:solidFill>
              </a:rPr>
              <a:t>"</a:t>
            </a:r>
            <a:r>
              <a:rPr lang="en-US" sz="1600" dirty="0" err="1">
                <a:solidFill>
                  <a:srgbClr val="FF6600"/>
                </a:solidFill>
              </a:rPr>
              <a:t>doCount</a:t>
            </a:r>
            <a:r>
              <a:rPr lang="en-US" sz="1600" dirty="0">
                <a:solidFill>
                  <a:srgbClr val="FF6600"/>
                </a:solidFill>
              </a:rPr>
              <a:t>(frm1.box1.value, frm1.box2.value )" </a:t>
            </a:r>
            <a:r>
              <a:rPr lang="en-US" sz="1600" dirty="0">
                <a:solidFill>
                  <a:srgbClr val="3366FF"/>
                </a:solidFill>
              </a:rPr>
              <a:t>/&gt;</a:t>
            </a: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&lt;/form&gt;</a:t>
            </a:r>
          </a:p>
          <a:p>
            <a:pPr lvl="1"/>
            <a:endParaRPr lang="en-US" sz="1600" dirty="0">
              <a:solidFill>
                <a:srgbClr val="3366FF"/>
              </a:solidFill>
            </a:endParaRP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&lt;div </a:t>
            </a:r>
            <a:r>
              <a:rPr lang="en-US" sz="1600" dirty="0">
                <a:solidFill>
                  <a:srgbClr val="548235"/>
                </a:solidFill>
              </a:rPr>
              <a:t>id=</a:t>
            </a:r>
            <a:r>
              <a:rPr lang="en-US" sz="1600" dirty="0">
                <a:solidFill>
                  <a:srgbClr val="FF6600"/>
                </a:solidFill>
              </a:rPr>
              <a:t>"</a:t>
            </a:r>
            <a:r>
              <a:rPr lang="en-US" sz="1600" dirty="0" err="1">
                <a:solidFill>
                  <a:srgbClr val="FF6600"/>
                </a:solidFill>
              </a:rPr>
              <a:t>outputArea</a:t>
            </a:r>
            <a:r>
              <a:rPr lang="en-US" sz="1600" dirty="0">
                <a:solidFill>
                  <a:srgbClr val="FF6600"/>
                </a:solidFill>
              </a:rPr>
              <a:t>”</a:t>
            </a:r>
            <a:r>
              <a:rPr lang="en-US" sz="1600" dirty="0">
                <a:solidFill>
                  <a:srgbClr val="3366FF"/>
                </a:solidFill>
              </a:rPr>
              <a:t>&gt;</a:t>
            </a:r>
          </a:p>
          <a:p>
            <a:pPr lvl="1"/>
            <a:r>
              <a:rPr lang="en-US" sz="1600" dirty="0">
                <a:solidFill>
                  <a:srgbClr val="3366FF"/>
                </a:solidFill>
              </a:rPr>
              <a:t>&lt;/div&gt;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&lt;/body&gt;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&lt;/html&gt;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9105900" y="419100"/>
            <a:ext cx="1943100" cy="812800"/>
          </a:xfrm>
          <a:prstGeom prst="wedgeRoundRectCallout">
            <a:avLst>
              <a:gd name="adj1" fmla="val -217601"/>
              <a:gd name="adj2" fmla="val 50443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 </a:t>
            </a:r>
            <a:r>
              <a:rPr lang="en-US" b="1" dirty="0">
                <a:solidFill>
                  <a:srgbClr val="C55A11"/>
                </a:solidFill>
              </a:rPr>
              <a:t>HTML 5</a:t>
            </a:r>
            <a:r>
              <a:rPr lang="en-US" dirty="0"/>
              <a:t> document setup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217456" y="4099627"/>
            <a:ext cx="1611344" cy="977900"/>
          </a:xfrm>
          <a:prstGeom prst="wedgeRoundRectCallout">
            <a:avLst>
              <a:gd name="adj1" fmla="val 116009"/>
              <a:gd name="adj2" fmla="val 72890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Note: DIV with attribute ID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10792308" y="2814835"/>
            <a:ext cx="1270000" cy="1028700"/>
          </a:xfrm>
          <a:prstGeom prst="wedgeRoundRectCallout">
            <a:avLst>
              <a:gd name="adj1" fmla="val -335728"/>
              <a:gd name="adj2" fmla="val -3981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Comment Format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8606515" y="1729277"/>
            <a:ext cx="2188784" cy="607948"/>
          </a:xfrm>
          <a:prstGeom prst="wedgeRoundRectCallout">
            <a:avLst>
              <a:gd name="adj1" fmla="val -211431"/>
              <a:gd name="adj2" fmla="val 55833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Separate linked</a:t>
            </a:r>
          </a:p>
          <a:p>
            <a:pPr algn="ctr"/>
            <a:r>
              <a:rPr lang="en-US" dirty="0"/>
              <a:t>CSS and JS files</a:t>
            </a:r>
          </a:p>
        </p:txBody>
      </p:sp>
    </p:spTree>
    <p:extLst>
      <p:ext uri="{BB962C8B-B14F-4D97-AF65-F5344CB8AC3E}">
        <p14:creationId xmlns:p14="http://schemas.microsoft.com/office/powerpoint/2010/main" val="283101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main.css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86100" y="1279436"/>
            <a:ext cx="6096000" cy="1477328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#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outputArea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</a:p>
          <a:p>
            <a:r>
              <a:rPr lang="en-US" dirty="0"/>
              <a:t>/* style the output area */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background-color: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#00ff00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C55A11"/>
                </a:solidFill>
              </a:rPr>
              <a:t>width: </a:t>
            </a:r>
            <a:r>
              <a:rPr lang="en-US" dirty="0">
                <a:solidFill>
                  <a:srgbClr val="385723"/>
                </a:solidFill>
              </a:rPr>
              <a:t>25px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6800" y="3200400"/>
            <a:ext cx="499367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CSS Coding Standards &amp; Conventions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Definitions begin and end with </a:t>
            </a:r>
            <a:r>
              <a:rPr lang="en-US" b="1" dirty="0"/>
              <a:t>curly brackets { }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Separate </a:t>
            </a:r>
            <a:r>
              <a:rPr lang="en-US" dirty="0" err="1"/>
              <a:t>name:value</a:t>
            </a:r>
            <a:r>
              <a:rPr lang="en-US" dirty="0"/>
              <a:t> pairs with a </a:t>
            </a:r>
            <a:r>
              <a:rPr lang="en-US" b="1" dirty="0"/>
              <a:t>colon 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End each property with </a:t>
            </a:r>
            <a:r>
              <a:rPr lang="en-US" b="1" dirty="0"/>
              <a:t>semi-colon ;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One property per line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CSS is Case Sensitive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Don’t forget the closing</a:t>
            </a:r>
            <a:r>
              <a:rPr lang="en-US" b="1" dirty="0"/>
              <a:t> }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0490200" y="469900"/>
            <a:ext cx="1270000" cy="1028700"/>
          </a:xfrm>
          <a:prstGeom prst="wedgeRoundRectCallout">
            <a:avLst>
              <a:gd name="adj1" fmla="val -388833"/>
              <a:gd name="adj2" fmla="val 76080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CSS Comment Format</a:t>
            </a:r>
          </a:p>
        </p:txBody>
      </p:sp>
    </p:spTree>
    <p:extLst>
      <p:ext uri="{BB962C8B-B14F-4D97-AF65-F5344CB8AC3E}">
        <p14:creationId xmlns:p14="http://schemas.microsoft.com/office/powerpoint/2010/main" val="258872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counting.js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7999" y="1198587"/>
            <a:ext cx="6598863" cy="2554545"/>
          </a:xfrm>
          <a:prstGeom prst="rect">
            <a:avLst/>
          </a:prstGeom>
          <a:solidFill>
            <a:srgbClr val="0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55A11"/>
                </a:solidFill>
              </a:rPr>
              <a:t>// </a:t>
            </a:r>
            <a:r>
              <a:rPr lang="en-US" sz="2000" dirty="0">
                <a:solidFill>
                  <a:schemeClr val="bg1"/>
                </a:solidFill>
              </a:rPr>
              <a:t>function to count to arbitrary number based on form input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C55A11"/>
                </a:solidFill>
              </a:rPr>
              <a:t>function </a:t>
            </a:r>
            <a:r>
              <a:rPr lang="en-US" sz="2000" dirty="0" err="1">
                <a:solidFill>
                  <a:schemeClr val="bg1"/>
                </a:solidFill>
              </a:rPr>
              <a:t>doCount</a:t>
            </a:r>
            <a:r>
              <a:rPr lang="en-US" sz="2000" dirty="0">
                <a:solidFill>
                  <a:schemeClr val="bg1"/>
                </a:solidFill>
              </a:rPr>
              <a:t>(n)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55A11"/>
                </a:solidFill>
              </a:rPr>
              <a:t>{</a:t>
            </a:r>
          </a:p>
          <a:p>
            <a:r>
              <a:rPr lang="en-US" sz="2000" dirty="0"/>
              <a:t>    </a:t>
            </a:r>
            <a:r>
              <a:rPr lang="en-US" sz="2000" dirty="0">
                <a:solidFill>
                  <a:srgbClr val="C55A11"/>
                </a:solidFill>
              </a:rPr>
              <a:t>alert</a:t>
            </a:r>
            <a:r>
              <a:rPr lang="en-US" sz="2000" dirty="0">
                <a:solidFill>
                  <a:schemeClr val="bg1"/>
                </a:solidFill>
              </a:rPr>
              <a:t>(“Hello: " </a:t>
            </a:r>
            <a:r>
              <a:rPr lang="en-US" sz="2000" b="1" dirty="0">
                <a:solidFill>
                  <a:srgbClr val="FF6600"/>
                </a:solidFill>
              </a:rPr>
              <a:t>+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</a:rPr>
              <a:t>n)</a:t>
            </a:r>
            <a:r>
              <a:rPr lang="en-US" sz="2000" dirty="0">
                <a:solidFill>
                  <a:srgbClr val="C55A11"/>
                </a:solidFill>
              </a:rPr>
              <a:t>;</a:t>
            </a:r>
            <a:r>
              <a:rPr lang="en-US" sz="2000" dirty="0"/>
              <a:t>     </a:t>
            </a:r>
          </a:p>
          <a:p>
            <a:endParaRPr lang="en-US" sz="2000" dirty="0">
              <a:solidFill>
                <a:srgbClr val="C55A11"/>
              </a:solidFill>
            </a:endParaRP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document.</a:t>
            </a:r>
            <a:r>
              <a:rPr lang="en-US" sz="2000" dirty="0" err="1">
                <a:solidFill>
                  <a:schemeClr val="bg1"/>
                </a:solidFill>
              </a:rPr>
              <a:t>getElementById</a:t>
            </a:r>
            <a:r>
              <a:rPr lang="en-US" sz="2000" dirty="0">
                <a:solidFill>
                  <a:schemeClr val="bg1"/>
                </a:solidFill>
              </a:rPr>
              <a:t>("</a:t>
            </a:r>
            <a:r>
              <a:rPr lang="en-US" sz="2000" dirty="0" err="1">
                <a:solidFill>
                  <a:schemeClr val="bg1"/>
                </a:solidFill>
              </a:rPr>
              <a:t>outputArea</a:t>
            </a:r>
            <a:r>
              <a:rPr lang="en-US" sz="2000" dirty="0">
                <a:solidFill>
                  <a:schemeClr val="bg1"/>
                </a:solidFill>
              </a:rPr>
              <a:t>")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en-US" sz="2000" dirty="0" err="1">
                <a:solidFill>
                  <a:srgbClr val="C55A11"/>
                </a:solidFill>
              </a:rPr>
              <a:t>innerHTML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</a:rPr>
              <a:t>= n</a:t>
            </a:r>
            <a:r>
              <a:rPr lang="en-US" sz="2000" dirty="0">
                <a:solidFill>
                  <a:srgbClr val="C55A11"/>
                </a:solidFill>
              </a:rPr>
              <a:t>;</a:t>
            </a:r>
          </a:p>
          <a:p>
            <a:r>
              <a:rPr lang="en-US" sz="2000" dirty="0">
                <a:solidFill>
                  <a:srgbClr val="C55A11"/>
                </a:solidFill>
              </a:rPr>
              <a:t>}</a:t>
            </a:r>
          </a:p>
          <a:p>
            <a:endParaRPr lang="en-US" sz="2000" dirty="0">
              <a:solidFill>
                <a:srgbClr val="C55A1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10565614" y="368571"/>
            <a:ext cx="1270000" cy="1028700"/>
          </a:xfrm>
          <a:prstGeom prst="wedgeRoundRectCallout">
            <a:avLst>
              <a:gd name="adj1" fmla="val -187833"/>
              <a:gd name="adj2" fmla="val 53858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JavaScriptcomment</a:t>
            </a:r>
            <a:r>
              <a:rPr lang="en-US" dirty="0"/>
              <a:t>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3736681"/>
            <a:ext cx="5986810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JavaScript Coding Terminology:</a:t>
            </a:r>
          </a:p>
          <a:p>
            <a:r>
              <a:rPr lang="en-US" dirty="0"/>
              <a:t>In the HTML page, when a user clicks on the button, </a:t>
            </a:r>
          </a:p>
          <a:p>
            <a:r>
              <a:rPr lang="en-US" dirty="0"/>
              <a:t>the </a:t>
            </a:r>
            <a:r>
              <a:rPr lang="en-US" b="1" dirty="0" err="1">
                <a:solidFill>
                  <a:srgbClr val="C55A11"/>
                </a:solidFill>
              </a:rPr>
              <a:t>onClick</a:t>
            </a:r>
            <a:r>
              <a:rPr lang="en-US" b="1" dirty="0">
                <a:solidFill>
                  <a:srgbClr val="C55A11"/>
                </a:solidFill>
              </a:rPr>
              <a:t> </a:t>
            </a:r>
            <a:r>
              <a:rPr lang="en-US" b="1" u="sng" dirty="0">
                <a:solidFill>
                  <a:srgbClr val="C55A11"/>
                </a:solidFill>
              </a:rPr>
              <a:t>event</a:t>
            </a:r>
            <a:r>
              <a:rPr lang="en-US" b="1" dirty="0">
                <a:solidFill>
                  <a:srgbClr val="C55A11"/>
                </a:solidFill>
              </a:rPr>
              <a:t>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calls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u="sng" dirty="0">
                <a:solidFill>
                  <a:srgbClr val="C55A11"/>
                </a:solidFill>
              </a:rPr>
              <a:t>passes</a:t>
            </a:r>
            <a:r>
              <a:rPr lang="en-US" b="1" dirty="0">
                <a:solidFill>
                  <a:srgbClr val="C55A11"/>
                </a:solidFill>
              </a:rPr>
              <a:t> it a </a:t>
            </a:r>
            <a:r>
              <a:rPr lang="en-US" b="1" u="sng" dirty="0">
                <a:solidFill>
                  <a:srgbClr val="C55A11"/>
                </a:solidFill>
              </a:rPr>
              <a:t>value</a:t>
            </a:r>
          </a:p>
          <a:p>
            <a:endParaRPr lang="en-US" dirty="0"/>
          </a:p>
          <a:p>
            <a:r>
              <a:rPr lang="en-US" dirty="0"/>
              <a:t>In the JavaScript, we </a:t>
            </a:r>
            <a:r>
              <a:rPr lang="en-US" b="1" u="sng" dirty="0">
                <a:solidFill>
                  <a:srgbClr val="548235"/>
                </a:solidFill>
              </a:rPr>
              <a:t>assign</a:t>
            </a:r>
            <a:r>
              <a:rPr lang="en-US" dirty="0"/>
              <a:t> the value passed to the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n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In the JavaScript, we alter the HTML page by </a:t>
            </a:r>
          </a:p>
          <a:p>
            <a:r>
              <a:rPr lang="en-US" dirty="0"/>
              <a:t>modifying a </a:t>
            </a:r>
            <a:r>
              <a:rPr lang="en-US" b="1" u="sng" dirty="0">
                <a:solidFill>
                  <a:srgbClr val="C55A11"/>
                </a:solidFill>
              </a:rPr>
              <a:t>property</a:t>
            </a:r>
            <a:r>
              <a:rPr lang="en-US" dirty="0"/>
              <a:t> of the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DOM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(Document Object Model)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38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counting.js</a:t>
            </a:r>
            <a:r>
              <a:rPr lang="en-US" dirty="0"/>
              <a:t> – v2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0" y="1292107"/>
            <a:ext cx="6828550" cy="2554545"/>
          </a:xfrm>
          <a:prstGeom prst="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// function to count to arbitrary number based on form input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function </a:t>
            </a:r>
            <a:r>
              <a:rPr lang="en-US" sz="2000" dirty="0" err="1">
                <a:solidFill>
                  <a:schemeClr val="bg1"/>
                </a:solidFill>
              </a:rPr>
              <a:t>doCount</a:t>
            </a:r>
            <a:r>
              <a:rPr lang="en-US" sz="2000" dirty="0">
                <a:solidFill>
                  <a:schemeClr val="bg1"/>
                </a:solidFill>
              </a:rPr>
              <a:t>(n)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alert("Number received: " + n); </a:t>
            </a:r>
          </a:p>
          <a:p>
            <a:r>
              <a:rPr lang="en-US" sz="2000" dirty="0">
                <a:solidFill>
                  <a:srgbClr val="C55A11"/>
                </a:solidFill>
              </a:rPr>
              <a:t>   </a:t>
            </a:r>
            <a:r>
              <a:rPr lang="en-US" sz="2000" b="1" dirty="0">
                <a:solidFill>
                  <a:srgbClr val="C55A11"/>
                </a:solidFill>
              </a:rPr>
              <a:t> for (</a:t>
            </a:r>
            <a:r>
              <a:rPr lang="en-US" sz="2000" b="1" dirty="0" err="1">
                <a:solidFill>
                  <a:srgbClr val="008000"/>
                </a:solidFill>
              </a:rPr>
              <a:t>i</a:t>
            </a:r>
            <a:r>
              <a:rPr lang="en-US" sz="2000" b="1" dirty="0">
                <a:solidFill>
                  <a:srgbClr val="008000"/>
                </a:solidFill>
              </a:rPr>
              <a:t> = 1; </a:t>
            </a:r>
            <a:r>
              <a:rPr lang="en-US" sz="2000" b="1" dirty="0" err="1">
                <a:solidFill>
                  <a:srgbClr val="008000"/>
                </a:solidFill>
              </a:rPr>
              <a:t>i</a:t>
            </a:r>
            <a:r>
              <a:rPr lang="en-US" sz="2000" b="1" dirty="0">
                <a:solidFill>
                  <a:srgbClr val="008000"/>
                </a:solidFill>
              </a:rPr>
              <a:t> &lt; n; </a:t>
            </a:r>
            <a:r>
              <a:rPr lang="en-US" sz="2000" b="1" dirty="0" err="1">
                <a:solidFill>
                  <a:srgbClr val="008000"/>
                </a:solidFill>
              </a:rPr>
              <a:t>i</a:t>
            </a:r>
            <a:r>
              <a:rPr lang="en-US" sz="2000" b="1" dirty="0">
                <a:solidFill>
                  <a:srgbClr val="008000"/>
                </a:solidFill>
              </a:rPr>
              <a:t>++</a:t>
            </a:r>
            <a:r>
              <a:rPr lang="en-US" sz="2000" b="1" dirty="0">
                <a:solidFill>
                  <a:srgbClr val="C55A11"/>
                </a:solidFill>
              </a:rPr>
              <a:t>) </a:t>
            </a:r>
            <a:r>
              <a:rPr lang="en-US" sz="2000" dirty="0">
                <a:solidFill>
                  <a:srgbClr val="C55A11"/>
                </a:solidFill>
              </a:rPr>
              <a:t>{</a:t>
            </a:r>
          </a:p>
          <a:p>
            <a:r>
              <a:rPr lang="en-US" sz="2000" dirty="0">
                <a:solidFill>
                  <a:srgbClr val="C55A11"/>
                </a:solidFill>
              </a:rPr>
              <a:t>        </a:t>
            </a:r>
            <a:r>
              <a:rPr lang="en-US" sz="2000" dirty="0" err="1">
                <a:solidFill>
                  <a:schemeClr val="bg1"/>
                </a:solidFill>
              </a:rPr>
              <a:t>document.getElementById</a:t>
            </a:r>
            <a:r>
              <a:rPr lang="en-US" sz="2000" dirty="0">
                <a:solidFill>
                  <a:schemeClr val="bg1"/>
                </a:solidFill>
              </a:rPr>
              <a:t>("</a:t>
            </a:r>
            <a:r>
              <a:rPr lang="en-US" sz="2000" dirty="0" err="1">
                <a:solidFill>
                  <a:schemeClr val="bg1"/>
                </a:solidFill>
              </a:rPr>
              <a:t>outputArea</a:t>
            </a:r>
            <a:r>
              <a:rPr lang="en-US" sz="2000" dirty="0">
                <a:solidFill>
                  <a:schemeClr val="bg1"/>
                </a:solidFill>
              </a:rPr>
              <a:t>").</a:t>
            </a:r>
            <a:r>
              <a:rPr lang="en-US" sz="2000" dirty="0" err="1">
                <a:solidFill>
                  <a:schemeClr val="bg1"/>
                </a:solidFill>
              </a:rPr>
              <a:t>innerHTML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b="1" dirty="0" err="1">
                <a:solidFill>
                  <a:srgbClr val="548235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r>
              <a:rPr lang="en-US" sz="2000" dirty="0">
                <a:solidFill>
                  <a:srgbClr val="C55A11"/>
                </a:solidFill>
              </a:rPr>
              <a:t>    }</a:t>
            </a:r>
          </a:p>
          <a:p>
            <a:r>
              <a:rPr lang="en-US" sz="200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480555" y="4228309"/>
            <a:ext cx="7937500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From the </a:t>
            </a:r>
            <a:r>
              <a:rPr lang="en-US" b="1" dirty="0">
                <a:solidFill>
                  <a:srgbClr val="C55A11"/>
                </a:solidFill>
              </a:rPr>
              <a:t>for loop </a:t>
            </a:r>
            <a:r>
              <a:rPr lang="en-US" dirty="0"/>
              <a:t>example above, you can read: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Part 1 sets a variable before the loop starts (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b="1" dirty="0" err="1">
                <a:solidFill>
                  <a:srgbClr val="C55A11"/>
                </a:solidFill>
              </a:rPr>
              <a:t>i</a:t>
            </a:r>
            <a:r>
              <a:rPr lang="en-US" b="1" dirty="0">
                <a:solidFill>
                  <a:srgbClr val="C55A11"/>
                </a:solidFill>
              </a:rPr>
              <a:t> = 0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Part 2 defines the condition for the loop to run (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must be less than </a:t>
            </a:r>
            <a:r>
              <a:rPr lang="en-US" b="1" dirty="0">
                <a:solidFill>
                  <a:srgbClr val="C55A11"/>
                </a:solidFill>
              </a:rPr>
              <a:t>n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Part 3 increases (increments) a value (</a:t>
            </a:r>
            <a:r>
              <a:rPr lang="en-US" b="1" dirty="0" err="1">
                <a:solidFill>
                  <a:srgbClr val="C55A11"/>
                </a:solidFill>
              </a:rPr>
              <a:t>i</a:t>
            </a:r>
            <a:r>
              <a:rPr lang="en-US" b="1" dirty="0">
                <a:solidFill>
                  <a:srgbClr val="C55A11"/>
                </a:solidFill>
              </a:rPr>
              <a:t>++</a:t>
            </a:r>
            <a:r>
              <a:rPr lang="en-US" dirty="0"/>
              <a:t>) each time the code block in the loop has been executed.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208319" y="1591227"/>
            <a:ext cx="1777800" cy="1124277"/>
          </a:xfrm>
          <a:prstGeom prst="wedgeRoundRectCallout">
            <a:avLst>
              <a:gd name="adj1" fmla="val 123762"/>
              <a:gd name="adj2" fmla="val 59867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Indent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78716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counting.js</a:t>
            </a:r>
            <a:r>
              <a:rPr lang="en-US" dirty="0"/>
              <a:t> – v3</a:t>
            </a:r>
          </a:p>
        </p:txBody>
      </p:sp>
      <p:sp>
        <p:nvSpPr>
          <p:cNvPr id="3" name="Rectangle 2"/>
          <p:cNvSpPr/>
          <p:nvPr/>
        </p:nvSpPr>
        <p:spPr>
          <a:xfrm>
            <a:off x="2859933" y="1350139"/>
            <a:ext cx="7503013" cy="3170099"/>
          </a:xfrm>
          <a:prstGeom prst="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// function to count to arbitrary number based on form input</a:t>
            </a:r>
          </a:p>
          <a:p>
            <a:r>
              <a:rPr lang="en-US" sz="2000" b="1" dirty="0" err="1">
                <a:solidFill>
                  <a:srgbClr val="C55A11"/>
                </a:solidFill>
              </a:rPr>
              <a:t>var</a:t>
            </a:r>
            <a:r>
              <a:rPr lang="en-US" sz="2000" b="1" dirty="0">
                <a:solidFill>
                  <a:srgbClr val="C55A11"/>
                </a:solidFill>
              </a:rPr>
              <a:t> </a:t>
            </a:r>
            <a:r>
              <a:rPr lang="en-US" sz="2000" b="1" dirty="0" err="1">
                <a:solidFill>
                  <a:srgbClr val="C55A11"/>
                </a:solidFill>
              </a:rPr>
              <a:t>numSeries</a:t>
            </a:r>
            <a:r>
              <a:rPr lang="en-US" sz="2000" b="1" dirty="0">
                <a:solidFill>
                  <a:srgbClr val="C55A11"/>
                </a:solidFill>
              </a:rPr>
              <a:t> = 0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function </a:t>
            </a:r>
            <a:r>
              <a:rPr lang="en-US" sz="2000" dirty="0" err="1">
                <a:solidFill>
                  <a:schemeClr val="bg1"/>
                </a:solidFill>
              </a:rPr>
              <a:t>doCount</a:t>
            </a:r>
            <a:r>
              <a:rPr lang="en-US" sz="2000" dirty="0">
                <a:solidFill>
                  <a:schemeClr val="bg1"/>
                </a:solidFill>
              </a:rPr>
              <a:t>(n)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alert("Number received: " + n);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for (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= 1;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&lt; n;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++)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rgbClr val="C55A11"/>
                </a:solidFill>
              </a:rPr>
              <a:t>+ "&lt;</a:t>
            </a:r>
            <a:r>
              <a:rPr lang="en-US" sz="2000" b="1" dirty="0" err="1">
                <a:solidFill>
                  <a:srgbClr val="C55A11"/>
                </a:solidFill>
              </a:rPr>
              <a:t>br</a:t>
            </a:r>
            <a:r>
              <a:rPr lang="en-US" sz="2000" b="1" dirty="0">
                <a:solidFill>
                  <a:srgbClr val="C55A11"/>
                </a:solidFill>
              </a:rPr>
              <a:t>&gt;"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dirty="0" err="1">
                <a:solidFill>
                  <a:schemeClr val="bg1"/>
                </a:solidFill>
              </a:rPr>
              <a:t>document.getElementById</a:t>
            </a:r>
            <a:r>
              <a:rPr lang="en-US" sz="2000" dirty="0">
                <a:solidFill>
                  <a:schemeClr val="bg1"/>
                </a:solidFill>
              </a:rPr>
              <a:t>("</a:t>
            </a:r>
            <a:r>
              <a:rPr lang="en-US" sz="2000" dirty="0" err="1">
                <a:solidFill>
                  <a:schemeClr val="bg1"/>
                </a:solidFill>
              </a:rPr>
              <a:t>outputArea</a:t>
            </a:r>
            <a:r>
              <a:rPr lang="en-US" sz="2000" dirty="0">
                <a:solidFill>
                  <a:schemeClr val="bg1"/>
                </a:solidFill>
              </a:rPr>
              <a:t>").</a:t>
            </a:r>
            <a:r>
              <a:rPr lang="en-US" sz="2000" dirty="0" err="1">
                <a:solidFill>
                  <a:schemeClr val="bg1"/>
                </a:solidFill>
              </a:rPr>
              <a:t>innerHTML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r>
              <a:rPr lang="en-US" sz="20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63900" y="4902200"/>
            <a:ext cx="6124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code, we generally need to </a:t>
            </a:r>
            <a:r>
              <a:rPr lang="en-US" b="1" dirty="0">
                <a:solidFill>
                  <a:srgbClr val="C55A11"/>
                </a:solidFill>
              </a:rPr>
              <a:t>define</a:t>
            </a:r>
            <a:r>
              <a:rPr lang="en-US" dirty="0">
                <a:solidFill>
                  <a:srgbClr val="C55A11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before we use it</a:t>
            </a:r>
          </a:p>
        </p:txBody>
      </p:sp>
    </p:spTree>
    <p:extLst>
      <p:ext uri="{BB962C8B-B14F-4D97-AF65-F5344CB8AC3E}">
        <p14:creationId xmlns:p14="http://schemas.microsoft.com/office/powerpoint/2010/main" val="392248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counting.js</a:t>
            </a:r>
            <a:r>
              <a:rPr lang="en-US" dirty="0"/>
              <a:t> – v3.1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399" y="1350139"/>
            <a:ext cx="7503015" cy="3785652"/>
          </a:xfrm>
          <a:prstGeom prst="rect">
            <a:avLst/>
          </a:prstGeom>
          <a:solidFill>
            <a:srgbClr val="0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// function to count to arbitrary number based on form input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function </a:t>
            </a:r>
            <a:r>
              <a:rPr lang="en-US" sz="2000" dirty="0" err="1">
                <a:solidFill>
                  <a:schemeClr val="bg1"/>
                </a:solidFill>
              </a:rPr>
              <a:t>doCount</a:t>
            </a:r>
            <a:r>
              <a:rPr lang="en-US" sz="2000" dirty="0">
                <a:solidFill>
                  <a:schemeClr val="bg1"/>
                </a:solidFill>
              </a:rPr>
              <a:t>(n) {</a:t>
            </a:r>
          </a:p>
          <a:p>
            <a:r>
              <a:rPr lang="en-US" sz="2000" b="1" dirty="0">
                <a:solidFill>
                  <a:srgbClr val="C55A11"/>
                </a:solidFill>
              </a:rPr>
              <a:t>    </a:t>
            </a:r>
            <a:r>
              <a:rPr lang="en-US" sz="2000" b="1" dirty="0" err="1">
                <a:solidFill>
                  <a:srgbClr val="C55A11"/>
                </a:solidFill>
              </a:rPr>
              <a:t>var</a:t>
            </a:r>
            <a:r>
              <a:rPr lang="en-US" sz="2000" b="1" dirty="0">
                <a:solidFill>
                  <a:srgbClr val="C55A11"/>
                </a:solidFill>
              </a:rPr>
              <a:t> </a:t>
            </a:r>
            <a:r>
              <a:rPr lang="en-US" sz="2000" b="1" dirty="0" err="1">
                <a:solidFill>
                  <a:srgbClr val="C55A11"/>
                </a:solidFill>
              </a:rPr>
              <a:t>numSeries</a:t>
            </a:r>
            <a:r>
              <a:rPr lang="en-US" sz="2000" b="1" dirty="0">
                <a:solidFill>
                  <a:srgbClr val="C55A11"/>
                </a:solidFill>
              </a:rPr>
              <a:t> = 0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   alert("Number received: " + n);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for (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= 1;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rgbClr val="548235"/>
                </a:solidFill>
              </a:rPr>
              <a:t>&lt;=</a:t>
            </a:r>
            <a:r>
              <a:rPr lang="en-US" sz="2000" dirty="0">
                <a:solidFill>
                  <a:schemeClr val="bg1"/>
                </a:solidFill>
              </a:rPr>
              <a:t>n;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++)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rgbClr val="C55A11"/>
                </a:solidFill>
              </a:rPr>
              <a:t>+ "&lt;</a:t>
            </a:r>
            <a:r>
              <a:rPr lang="en-US" sz="2000" b="1" dirty="0" err="1">
                <a:solidFill>
                  <a:srgbClr val="C55A11"/>
                </a:solidFill>
              </a:rPr>
              <a:t>br</a:t>
            </a:r>
            <a:r>
              <a:rPr lang="en-US" sz="2000" b="1" dirty="0">
                <a:solidFill>
                  <a:srgbClr val="C55A11"/>
                </a:solidFill>
              </a:rPr>
              <a:t>&gt;"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dirty="0" err="1">
                <a:solidFill>
                  <a:schemeClr val="bg1"/>
                </a:solidFill>
              </a:rPr>
              <a:t>document.getElementById</a:t>
            </a:r>
            <a:r>
              <a:rPr lang="en-US" sz="2000" dirty="0">
                <a:solidFill>
                  <a:schemeClr val="bg1"/>
                </a:solidFill>
              </a:rPr>
              <a:t>("</a:t>
            </a:r>
            <a:r>
              <a:rPr lang="en-US" sz="2000" dirty="0" err="1">
                <a:solidFill>
                  <a:schemeClr val="bg1"/>
                </a:solidFill>
              </a:rPr>
              <a:t>outputArea</a:t>
            </a:r>
            <a:r>
              <a:rPr lang="en-US" sz="2000" dirty="0">
                <a:solidFill>
                  <a:schemeClr val="bg1"/>
                </a:solidFill>
              </a:rPr>
              <a:t>").</a:t>
            </a:r>
            <a:r>
              <a:rPr lang="en-US" sz="2000" dirty="0" err="1">
                <a:solidFill>
                  <a:schemeClr val="bg1"/>
                </a:solidFill>
              </a:rPr>
              <a:t>innerHTML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rgbClr val="548235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r>
              <a:rPr lang="en-US" sz="2000" dirty="0">
                <a:solidFill>
                  <a:schemeClr val="bg1"/>
                </a:solidFill>
              </a:rPr>
              <a:t>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document.write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numSeries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4433" y="5253460"/>
            <a:ext cx="50644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Where</a:t>
            </a:r>
            <a:r>
              <a:rPr lang="en-US" dirty="0"/>
              <a:t> you </a:t>
            </a:r>
            <a:r>
              <a:rPr lang="en-US" b="1" dirty="0">
                <a:solidFill>
                  <a:srgbClr val="C55A11"/>
                </a:solidFill>
              </a:rPr>
              <a:t>define</a:t>
            </a:r>
            <a:r>
              <a:rPr lang="en-US" dirty="0">
                <a:solidFill>
                  <a:srgbClr val="C55A11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determines its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scope</a:t>
            </a:r>
            <a:r>
              <a:rPr lang="en-US" dirty="0"/>
              <a:t>”</a:t>
            </a:r>
          </a:p>
          <a:p>
            <a:r>
              <a:rPr lang="en-US" dirty="0"/>
              <a:t>Placing it inside the loop </a:t>
            </a:r>
            <a:r>
              <a:rPr lang="en-US" b="1" dirty="0">
                <a:solidFill>
                  <a:srgbClr val="548235"/>
                </a:solidFill>
              </a:rPr>
              <a:t>re-defines </a:t>
            </a:r>
            <a:r>
              <a:rPr lang="en-US" dirty="0"/>
              <a:t>it each time</a:t>
            </a:r>
          </a:p>
          <a:p>
            <a:endParaRPr lang="en-US" dirty="0"/>
          </a:p>
          <a:p>
            <a:r>
              <a:rPr lang="en-US" dirty="0"/>
              <a:t>Plus we fixed a bug:    </a:t>
            </a:r>
            <a:r>
              <a:rPr lang="en-US" b="1" dirty="0">
                <a:solidFill>
                  <a:srgbClr val="548235"/>
                </a:solidFill>
              </a:rPr>
              <a:t>i</a:t>
            </a:r>
            <a:r>
              <a:rPr lang="en-US" b="1">
                <a:solidFill>
                  <a:srgbClr val="548235"/>
                </a:solidFill>
              </a:rPr>
              <a:t> </a:t>
            </a:r>
            <a:r>
              <a:rPr lang="en-US" b="1" dirty="0">
                <a:solidFill>
                  <a:srgbClr val="548235"/>
                </a:solidFill>
              </a:rPr>
              <a:t>&lt;= n</a:t>
            </a:r>
          </a:p>
        </p:txBody>
      </p:sp>
    </p:spTree>
    <p:extLst>
      <p:ext uri="{BB962C8B-B14F-4D97-AF65-F5344CB8AC3E}">
        <p14:creationId xmlns:p14="http://schemas.microsoft.com/office/powerpoint/2010/main" val="159220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your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6700" y="1193800"/>
            <a:ext cx="6583854" cy="4224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Close all other windows – keep your focus on coding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a coding text editor – such as Notepad++, Sublime, Brackets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Save files in your /web/ folder – not scattered on desktop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Indent for readability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Line breaks for readability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Comment your code where appropriate – be nice to your testers!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All code is in lowercase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Variable names, DIVs &amp; attributes can be </a:t>
            </a:r>
            <a:r>
              <a:rPr lang="en-US" dirty="0" err="1"/>
              <a:t>camelCase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Close all tags!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Pay attention to spelling and punctuation</a:t>
            </a:r>
          </a:p>
        </p:txBody>
      </p:sp>
    </p:spTree>
    <p:extLst>
      <p:ext uri="{BB962C8B-B14F-4D97-AF65-F5344CB8AC3E}">
        <p14:creationId xmlns:p14="http://schemas.microsoft.com/office/powerpoint/2010/main" val="144156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– complete to the FSD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566" y="606651"/>
            <a:ext cx="8654805" cy="624170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Write a program to: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Ask for the user’s Name (and display it back)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Ask a user for a number input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dirty="0"/>
              <a:t>, then count from 0 to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dirty="0"/>
              <a:t> on the screen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</a:t>
            </a:r>
            <a:r>
              <a:rPr lang="en-US" strike="sngStrike" dirty="0"/>
              <a:t>a pop-up alert() </a:t>
            </a:r>
            <a:r>
              <a:rPr lang="en-US" dirty="0"/>
              <a:t>or DOM to confirm the name &amp; number entered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Output should display right on the HTML page (inline – modifying the DOM)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basic CSS to style the output area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best-practice coding standards – run code through </a:t>
            </a:r>
            <a:r>
              <a:rPr lang="en-US" dirty="0">
                <a:hlinkClick r:id="rId2"/>
              </a:rPr>
              <a:t>https://validator.w3.org/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Modify the program to count by 2s (or some other increment)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/>
              <a:t>Finally, add error-checking  (take-home assignment)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Only accept numeric input – integers only.  No alpha characters  (</a:t>
            </a:r>
            <a:r>
              <a:rPr lang="en-US" b="1" dirty="0">
                <a:solidFill>
                  <a:srgbClr val="C55A11"/>
                </a:solidFill>
              </a:rPr>
              <a:t>sanitize input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Blanks are not allowed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Number should be greater than 3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Number should be max 100, otherwise reset to 100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>
                <a:solidFill>
                  <a:srgbClr val="C55A11"/>
                </a:solidFill>
              </a:rPr>
              <a:t>“Graceful”</a:t>
            </a:r>
            <a:r>
              <a:rPr lang="en-US" dirty="0"/>
              <a:t> and informative error messages and warnings (</a:t>
            </a:r>
            <a:r>
              <a:rPr lang="en-US" dirty="0" err="1"/>
              <a:t>ie</a:t>
            </a:r>
            <a:r>
              <a:rPr lang="en-US" dirty="0"/>
              <a:t>: inputs out of range)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Modify so that ODD numbers start counting at 1, even numbers start counting at 0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08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22112</TotalTime>
  <Words>1086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Mangal</vt:lpstr>
      <vt:lpstr>Office Theme</vt:lpstr>
      <vt:lpstr>Programming Concepts – Functions, Variables, Loops</vt:lpstr>
      <vt:lpstr>Learn and use best-practices coding standards and conventions</vt:lpstr>
      <vt:lpstr>Program Description – Functional Spec</vt:lpstr>
      <vt:lpstr>count.html</vt:lpstr>
      <vt:lpstr>main.css</vt:lpstr>
      <vt:lpstr>counting.js</vt:lpstr>
      <vt:lpstr>counting.js – v2</vt:lpstr>
      <vt:lpstr>counting.js – v3</vt:lpstr>
      <vt:lpstr>counting.js – v3.1</vt:lpstr>
      <vt:lpstr>Checking your code quality</vt:lpstr>
      <vt:lpstr>Next Steps – complete to the FSD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MacLysaght, Rory</dc:creator>
  <cp:lastModifiedBy>MacLysaght, Rory</cp:lastModifiedBy>
  <cp:revision>75</cp:revision>
  <dcterms:created xsi:type="dcterms:W3CDTF">2014-10-02T15:40:33Z</dcterms:created>
  <dcterms:modified xsi:type="dcterms:W3CDTF">2017-11-01T15:23:04Z</dcterms:modified>
</cp:coreProperties>
</file>